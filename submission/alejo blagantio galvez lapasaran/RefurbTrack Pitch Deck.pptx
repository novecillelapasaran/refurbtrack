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e456e4ded604993" /><Relationship Type="http://schemas.openxmlformats.org/officeDocument/2006/relationships/extended-properties" Target="/docProps/app.xml" Id="Rafc578ea05184941" /><Relationship Type="http://schemas.openxmlformats.org/officeDocument/2006/relationships/officeDocument" Target="/ppt/presentation.xml" Id="R46a2569edea64d60" /></Relationships>
</file>

<file path=ppt/presentation.xml><?xml version="1.0" encoding="utf-8"?>
<p:presentation xmlns:p="http://schemas.openxmlformats.org/presentationml/2006/main">
  <p:sldMasterIdLst>
    <p:sldMasterId xmlns:r="http://schemas.openxmlformats.org/officeDocument/2006/relationships" id="2147483648" r:id="R0dcd5592fdd64ab7"/>
  </p:sldMasterIdLst>
  <p:notesMasterIdLst>
    <p:notesMasterId xmlns:r="http://schemas.openxmlformats.org/officeDocument/2006/relationships" r:id="R7ba849dfdee44663"/>
  </p:notesMasterIdLst>
  <p:sldIdLst>
    <p:sldId xmlns:r="http://schemas.openxmlformats.org/officeDocument/2006/relationships" id="256" r:id="R9092d53da63745f0"/>
    <p:sldId xmlns:r="http://schemas.openxmlformats.org/officeDocument/2006/relationships" id="257" r:id="R67531e2f52df4036"/>
    <p:sldId xmlns:r="http://schemas.openxmlformats.org/officeDocument/2006/relationships" id="258" r:id="Rdf8a932e92574b8a"/>
    <p:sldId xmlns:r="http://schemas.openxmlformats.org/officeDocument/2006/relationships" id="259" r:id="R64e9f1fa68794883"/>
    <p:sldId xmlns:r="http://schemas.openxmlformats.org/officeDocument/2006/relationships" id="260" r:id="R71a53da801df4e3f"/>
    <p:sldId xmlns:r="http://schemas.openxmlformats.org/officeDocument/2006/relationships" id="261" r:id="Rb440a30dd63d4605"/>
    <p:sldId xmlns:r="http://schemas.openxmlformats.org/officeDocument/2006/relationships" id="262" r:id="Rf7b1bb6dbe4c49cc"/>
    <p:sldId xmlns:r="http://schemas.openxmlformats.org/officeDocument/2006/relationships" id="263" r:id="R14b49fd69cd34bb7"/>
    <p:sldId xmlns:r="http://schemas.openxmlformats.org/officeDocument/2006/relationships" id="264" r:id="R71b3041d79f84fd8"/>
    <p:sldId xmlns:r="http://schemas.openxmlformats.org/officeDocument/2006/relationships" id="265" r:id="R6b512f9efc884f58"/>
    <p:sldId xmlns:r="http://schemas.openxmlformats.org/officeDocument/2006/relationships" id="266" r:id="R8ca76d8913774f4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65259cdfbc34f4c" /><Relationship Type="http://schemas.openxmlformats.org/officeDocument/2006/relationships/slideMaster" Target="/ppt/slideMasters/slideMaster1.xml" Id="R0dcd5592fdd64ab7" /><Relationship Type="http://schemas.openxmlformats.org/officeDocument/2006/relationships/notesMaster" Target="/ppt/notesMasters/notesMaster1.xml" Id="R7ba849dfdee44663" /><Relationship Type="http://schemas.openxmlformats.org/officeDocument/2006/relationships/presProps" Target="/ppt/presProps.xml" Id="R033f2416f6dc4024" /><Relationship Type="http://schemas.openxmlformats.org/officeDocument/2006/relationships/tableStyles" Target="/ppt/tableStyles.xml" Id="Rd6295b089b4c4cf2" /><Relationship Type="http://schemas.openxmlformats.org/officeDocument/2006/relationships/slide" Target="/ppt/slides/slide1.xml" Id="R9092d53da63745f0" /><Relationship Type="http://schemas.openxmlformats.org/officeDocument/2006/relationships/slide" Target="/ppt/slides/slide2.xml" Id="R67531e2f52df4036" /><Relationship Type="http://schemas.openxmlformats.org/officeDocument/2006/relationships/slide" Target="/ppt/slides/slide3.xml" Id="Rdf8a932e92574b8a" /><Relationship Type="http://schemas.openxmlformats.org/officeDocument/2006/relationships/slide" Target="/ppt/slides/slide4.xml" Id="R64e9f1fa68794883" /><Relationship Type="http://schemas.openxmlformats.org/officeDocument/2006/relationships/slide" Target="/ppt/slides/slide5.xml" Id="R71a53da801df4e3f" /><Relationship Type="http://schemas.openxmlformats.org/officeDocument/2006/relationships/slide" Target="/ppt/slides/slide6.xml" Id="Rb440a30dd63d4605" /><Relationship Type="http://schemas.openxmlformats.org/officeDocument/2006/relationships/slide" Target="/ppt/slides/slide7.xml" Id="Rf7b1bb6dbe4c49cc" /><Relationship Type="http://schemas.openxmlformats.org/officeDocument/2006/relationships/slide" Target="/ppt/slides/slide8.xml" Id="R14b49fd69cd34bb7" /><Relationship Type="http://schemas.openxmlformats.org/officeDocument/2006/relationships/slide" Target="/ppt/slides/slide9.xml" Id="R71b3041d79f84fd8" /><Relationship Type="http://schemas.openxmlformats.org/officeDocument/2006/relationships/slide" Target="/ppt/slides/slide10.xml" Id="R6b512f9efc884f58" /><Relationship Type="http://schemas.openxmlformats.org/officeDocument/2006/relationships/slide" Target="/ppt/slides/slide11.xml" Id="R8ca76d8913774f4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48232634cfa4dd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8e4f771227d4213" /><Relationship Type="http://schemas.openxmlformats.org/officeDocument/2006/relationships/notesMaster" Target="/ppt/notesMasters/notesMaster1.xml" Id="R3db9194781934677" /></Relationships>
</file>

<file path=ppt/notesSlides/_rels/notesSlide2.xml.rels>&#65279;<?xml version="1.0" encoding="utf-8"?><Relationships xmlns="http://schemas.openxmlformats.org/package/2006/relationships"><Relationship Type="http://schemas.openxmlformats.org/officeDocument/2006/relationships/slide" Target="/ppt/slides/slide2.xml" Id="Rf6967723e38b4709" /><Relationship Type="http://schemas.openxmlformats.org/officeDocument/2006/relationships/notesMaster" Target="/ppt/notesMasters/notesMaster1.xml" Id="Rf0cc224fe2d949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936c6e43da4ed2" /><Relationship Type="http://schemas.openxmlformats.org/officeDocument/2006/relationships/notesMaster" Target="/ppt/notesMasters/notesMaster1.xml" Id="R73d95ccec1d04cbc" /></Relationships>
</file>

<file path=ppt/notesSlides/_rels/notesSlide4.xml.rels>&#65279;<?xml version="1.0" encoding="utf-8"?><Relationships xmlns="http://schemas.openxmlformats.org/package/2006/relationships"><Relationship Type="http://schemas.openxmlformats.org/officeDocument/2006/relationships/slide" Target="/ppt/slides/slide4.xml" Id="R264d335393174311" /><Relationship Type="http://schemas.openxmlformats.org/officeDocument/2006/relationships/notesMaster" Target="/ppt/notesMasters/notesMaster1.xml" Id="Rc68eb82b4d4b4bc1" /></Relationships>
</file>

<file path=ppt/notesSlides/_rels/notesSlide5.xml.rels>&#65279;<?xml version="1.0" encoding="utf-8"?><Relationships xmlns="http://schemas.openxmlformats.org/package/2006/relationships"><Relationship Type="http://schemas.openxmlformats.org/officeDocument/2006/relationships/slide" Target="/ppt/slides/slide5.xml" Id="Ra3bd21455b8a46cd" /><Relationship Type="http://schemas.openxmlformats.org/officeDocument/2006/relationships/notesMaster" Target="/ppt/notesMasters/notesMaster1.xml" Id="R4e374c631ff7448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3d1cbdf4c8448b" /><Relationship Type="http://schemas.openxmlformats.org/officeDocument/2006/relationships/notesMaster" Target="/ppt/notesMasters/notesMaster1.xml" Id="Rfc498c0e0bda4f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de2c0fa160f14e76" /><Relationship Type="http://schemas.openxmlformats.org/officeDocument/2006/relationships/notesMaster" Target="/ppt/notesMasters/notesMaster1.xml" Id="R995eec8174cf4c94" /></Relationships>
</file>

<file path=ppt/notesSlides/_rels/notesSlide8.xml.rels>&#65279;<?xml version="1.0" encoding="utf-8"?><Relationships xmlns="http://schemas.openxmlformats.org/package/2006/relationships"><Relationship Type="http://schemas.openxmlformats.org/officeDocument/2006/relationships/slide" Target="/ppt/slides/slide8.xml" Id="Rde6c2ca05356460a" /><Relationship Type="http://schemas.openxmlformats.org/officeDocument/2006/relationships/notesMaster" Target="/ppt/notesMasters/notesMaster1.xml" Id="Rd5f9f66d71b14997" /></Relationships>
</file>

<file path=ppt/notesSlides/_rels/notesSlide9.xml.rels>&#65279;<?xml version="1.0" encoding="utf-8"?><Relationships xmlns="http://schemas.openxmlformats.org/package/2006/relationships"><Relationship Type="http://schemas.openxmlformats.org/officeDocument/2006/relationships/slide" Target="/ppt/slides/slide9.xml" Id="R3ad5a993993648c1" /><Relationship Type="http://schemas.openxmlformats.org/officeDocument/2006/relationships/notesMaster" Target="/ppt/notesMasters/notesMaster1.xml" Id="R9f2629b7190648a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2fffb18abba4d66" /><Relationship Type="http://schemas.openxmlformats.org/officeDocument/2006/relationships/notesMaster" Target="/ppt/notesMasters/notesMaster1.xml" Id="Rd6dcf367597546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132bf4899734688" /><Relationship Type="http://schemas.openxmlformats.org/officeDocument/2006/relationships/notesMaster" Target="/ppt/notesMasters/notesMaster1.xml" Id="R121ba2d7bf1548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Title</a:t>
            </a:r>
          </a:p>
          <a:p xmlns:a="http://schemas.openxmlformats.org/drawingml/2006/main">
            <a:r>
              <a:t>Timing: 0:00–0:15</a:t>
            </a:r>
          </a:p>
          <a:p xmlns:a="http://schemas.openxmlformats.org/drawingml/2006/main">
            <a:r>
              <a:t/>
            </a:r>
          </a:p>
          <a:p xmlns:a="http://schemas.openxmlformats.org/drawingml/2006/main">
            <a:r>
              <a:t>Good evening. We are the RefurbTrack team from UM Tagum College. Our project helps AJ Cellphone Repair Shop and Accessories keep each phone’s costs and outcome together. We focus on the shop’s repair and resale work.</a:t>
            </a:r>
          </a:p>
          <a:p xmlns:a="http://schemas.openxmlformats.org/drawingml/2006/main">
            <a:r>
              <a:t/>
            </a:r>
          </a:p>
          <a:p xmlns:a="http://schemas.openxmlformats.org/drawingml/2006/main">
            <a:r>
              <a:t>Sources: supplied RefurbTrack concept paper, instructor pitching guide and announcements; repository implementation and recorded tests. All financial examples are fictional. Review the latest verification report before presenting deployment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Overview · Problem</a:t>
            </a:r>
          </a:p>
          <a:p xmlns:a="http://schemas.openxmlformats.org/drawingml/2006/main">
            <a:r>
              <a:t>Timing: 0:15–0:50</a:t>
            </a:r>
          </a:p>
          <a:p xmlns:a="http://schemas.openxmlformats.org/drawingml/2006/main">
            <a:r>
              <a:t/>
            </a:r>
          </a:p>
          <a:p xmlns:a="http://schemas.openxmlformats.org/drawingml/2006/main">
            <a:r>
              <a:t>Our concept paper reports a needs assessment with the shop owner on August twenty-three. Records were spread across memory, paper, and an inconsistent existing application. Buying, repairing, and reselling phones was the greatest difficulty. Another discovered defect changes the investment. Without keeping those costs together, a sale can appear successful even when it produces a loss. This is evidence from one beneficiary, not every repair shop.</a:t>
            </a:r>
          </a:p>
          <a:p xmlns:a="http://schemas.openxmlformats.org/drawingml/2006/main">
            <a:r>
              <a:t/>
            </a:r>
          </a:p>
          <a:p xmlns:a="http://schemas.openxmlformats.org/drawingml/2006/main">
            <a:r>
              <a:t>Sources: supplied RefurbTrack concept paper, instructor pitching guide and announcements; repository implementation and recorded tests. All financial examples are fictional. Review the latest verification report before presenting deployment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Overview · Solution</a:t>
            </a:r>
          </a:p>
          <a:p xmlns:a="http://schemas.openxmlformats.org/drawingml/2006/main">
            <a:r>
              <a:t>Timing: 0:50–1:25</a:t>
            </a:r>
          </a:p>
          <a:p xmlns:a="http://schemas.openxmlformats.org/drawingml/2006/main">
            <a:r>
              <a:t/>
            </a:r>
          </a:p>
          <a:p xmlns:a="http://schemas.openxmlformats.org/drawingml/2006/main">
            <a:r>
              <a:t>RefurbTrack keeps intake, diagnosis, expenses, status, and final payment together. In our fictional demonstration, purchase costs two thousand pesos, parts cost eight hundred, and paid labor costs two hundred. Investment totals three thousand pesos. Revenue of four thousand five hundred produces one thousand five hundred pesos recorded profit. Rent, tax, and overhead are excluded. An unsold job shows investment, not an automatic realized loss.</a:t>
            </a:r>
          </a:p>
          <a:p xmlns:a="http://schemas.openxmlformats.org/drawingml/2006/main">
            <a:r>
              <a:t/>
            </a:r>
          </a:p>
          <a:p xmlns:a="http://schemas.openxmlformats.org/drawingml/2006/main">
            <a:r>
              <a:t>Sources: supplied RefurbTrack concept paper, instructor pitching guide and announcements; repository implementation and recorded tests. All financial examples are fictional. Review the latest verification report before presenting deployment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Overview · Objectives</a:t>
            </a:r>
          </a:p>
          <a:p xmlns:a="http://schemas.openxmlformats.org/drawingml/2006/main">
            <a:r>
              <a:t>Timing: 1:25–1:50</a:t>
            </a:r>
          </a:p>
          <a:p xmlns:a="http://schemas.openxmlformats.org/drawingml/2006/main">
            <a:r>
              <a:t/>
            </a:r>
          </a:p>
          <a:p xmlns:a="http://schemas.openxmlformats.org/drawingml/2006/main">
            <a:r>
              <a:t>Our objectives are to record actual direct costs, separate the two job types, and retrieve each phone’s history. Buy and Resell and Customer Repair are explicit choices. A free acquisition still follows resale; a customer repair ends with release. Our intake target is under two minutes, pending timed tests with actual users.</a:t>
            </a:r>
          </a:p>
          <a:p xmlns:a="http://schemas.openxmlformats.org/drawingml/2006/main">
            <a:r>
              <a:t/>
            </a:r>
          </a:p>
          <a:p xmlns:a="http://schemas.openxmlformats.org/drawingml/2006/main">
            <a:r>
              <a:t>Sources: supplied RefurbTrack concept paper, instructor pitching guide and announcements; repository implementation and recorded tests. All financial examples are fictional. Review the latest verification report before presenting deployment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 Market Opportunity</a:t>
            </a:r>
          </a:p>
          <a:p xmlns:a="http://schemas.openxmlformats.org/drawingml/2006/main">
            <a:r>
              <a:t>Timing: 1:50–2:15</a:t>
            </a:r>
          </a:p>
          <a:p xmlns:a="http://schemas.openxmlformats.org/drawingml/2006/main">
            <a:r>
              <a:t/>
            </a:r>
          </a:p>
          <a:p xmlns:a="http://schemas.openxmlformats.org/drawingml/2006/main">
            <a:r>
              <a:t>Our initial users are the owner and technicians of AJ Cellphone Repair Shop and Accessories in Tagum City. The opportunity is to replace fragmented records at this shop. Other shops may face a similar problem, but wider demand and market size have not been measured. We will validate this beneficiary’s workflow first.</a:t>
            </a:r>
          </a:p>
          <a:p xmlns:a="http://schemas.openxmlformats.org/drawingml/2006/main">
            <a:r>
              <a:t/>
            </a:r>
          </a:p>
          <a:p xmlns:a="http://schemas.openxmlformats.org/drawingml/2006/main">
            <a:r>
              <a:t>Sources: supplied RefurbTrack concept paper, instructor pitching guide and announcements; repository implementation and recorded tests. All financial examples are fictional. Review the latest verification report before presenting deployment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 Competition</a:t>
            </a:r>
          </a:p>
          <a:p xmlns:a="http://schemas.openxmlformats.org/drawingml/2006/main">
            <a:r>
              <a:t>Timing: 2:15–2:40</a:t>
            </a:r>
          </a:p>
          <a:p xmlns:a="http://schemas.openxmlformats.org/drawingml/2006/main">
            <a:r>
              <a:t/>
            </a:r>
          </a:p>
          <a:p xmlns:a="http://schemas.openxmlformats.org/drawingml/2006/main">
            <a:r>
              <a:t>Paper and memory need little setup, but the survey describes fragmented records. A spreadsheet is a valid alternative, although its workflow needs to be designed and maintained. RefurbTrack organizes intake, costs, status, and outcome around each phone. This is a comparison of our implemented workflow, not a claim that all commercial systems lack these functions.</a:t>
            </a:r>
          </a:p>
          <a:p xmlns:a="http://schemas.openxmlformats.org/drawingml/2006/main">
            <a:r>
              <a:t/>
            </a:r>
          </a:p>
          <a:p xmlns:a="http://schemas.openxmlformats.org/drawingml/2006/main">
            <a:r>
              <a:t>Sources: supplied RefurbTrack concept paper, instructor pitching guide and announcements; repository implementation and recorded tests. All financial examples are fictional. Review the latest verification report before presenting deployment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 Architecture</a:t>
            </a:r>
          </a:p>
          <a:p xmlns:a="http://schemas.openxmlformats.org/drawingml/2006/main">
            <a:r>
              <a:t>Timing: 2:40–3:10</a:t>
            </a:r>
          </a:p>
          <a:p xmlns:a="http://schemas.openxmlformats.org/drawingml/2006/main">
            <a:r>
              <a:t/>
            </a:r>
          </a:p>
          <a:p xmlns:a="http://schemas.openxmlformats.org/drawingml/2006/main">
            <a:r>
              <a:t>React Native and Expo provide the Android interface. Firebase Authentication identifies staff, and Firestore stores workspace records. Shared access requires administrator-provisioned membership. Money is stored as whole centavos. A revision check prevents an old form from silently overwriting a newer update. Practice mode follows the same calculations but saves only on this device, separately from cloud records.</a:t>
            </a:r>
          </a:p>
          <a:p xmlns:a="http://schemas.openxmlformats.org/drawingml/2006/main">
            <a:r>
              <a:t/>
            </a:r>
          </a:p>
          <a:p xmlns:a="http://schemas.openxmlformats.org/drawingml/2006/main">
            <a:r>
              <a:t>Sources: supplied RefurbTrack concept paper, instructor pitching guide and announcements; repository implementation and recorded tests. All financial examples are fictional. Review the latest verification report before presenting deployment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Market · Development Process</a:t>
            </a:r>
          </a:p>
          <a:p xmlns:a="http://schemas.openxmlformats.org/drawingml/2006/main">
            <a:r>
              <a:t>Timing: 3:10–3:35</a:t>
            </a:r>
          </a:p>
          <a:p xmlns:a="http://schemas.openxmlformats.org/drawingml/2006/main">
            <a:r>
              <a:t/>
            </a:r>
          </a:p>
          <a:p xmlns:a="http://schemas.openxmlformats.org/drawingml/2006/main">
            <a:r>
              <a:t>We defined the lifecycles and financial rules from the concept paper, then connected the screens. Automated tests cover free acquisitions, expense corrections, and below-cost sales. Browser walkthroughs verify the displayed result. Cloud verification and an installed Android APK are separate release checks. The mock presentation will guide refinements before final submission.</a:t>
            </a:r>
          </a:p>
          <a:p xmlns:a="http://schemas.openxmlformats.org/drawingml/2006/main">
            <a:r>
              <a:t/>
            </a:r>
          </a:p>
          <a:p xmlns:a="http://schemas.openxmlformats.org/drawingml/2006/main">
            <a:r>
              <a:t>Sources: supplied RefurbTrack concept paper, instructor pitching guide and announcements; repository implementation and recorded tests. All financial examples are fictional. Review the latest verification report before presenting deployment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 Traction and Validation</a:t>
            </a:r>
          </a:p>
          <a:p xmlns:a="http://schemas.openxmlformats.org/drawingml/2006/main">
            <a:r>
              <a:t>Timing: 3:35–4:10</a:t>
            </a:r>
          </a:p>
          <a:p xmlns:a="http://schemas.openxmlformats.org/drawingml/2006/main">
            <a:r>
              <a:t/>
            </a:r>
          </a:p>
          <a:p xmlns:a="http://schemas.openxmlformats.org/drawingml/2006/main">
            <a:r>
              <a:t>Our concept paper reports a needs assessment with one shop owner. We now have twenty passing financial and workflow tests, live Firebase access checks, and a completed Android APK build. A cloud repair test survived a browser reload with the correct profit. We still need to record physical-device results and the client’s acceptance. We have not claimed increased sales or measured time savings.</a:t>
            </a:r>
          </a:p>
          <a:p xmlns:a="http://schemas.openxmlformats.org/drawingml/2006/main">
            <a:r>
              <a:t/>
            </a:r>
          </a:p>
          <a:p xmlns:a="http://schemas.openxmlformats.org/drawingml/2006/main">
            <a:r>
              <a:t>Sources: supplied RefurbTrack concept paper, instructor pitching guide and announcements; repository implementation and recorded tests. All financial examples are fictional. Review the latest verification report before presenting deployment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 Market Strategy</a:t>
            </a:r>
          </a:p>
          <a:p xmlns:a="http://schemas.openxmlformats.org/drawingml/2006/main">
            <a:r>
              <a:t>Timing: 4:10–4:35</a:t>
            </a:r>
          </a:p>
          <a:p xmlns:a="http://schemas.openxmlformats.org/drawingml/2006/main">
            <a:r>
              <a:t/>
            </a:r>
          </a:p>
          <a:p xmlns:a="http://schemas.openxmlformats.org/drawingml/2006/main">
            <a:r>
              <a:t>Our rollout begins with a supervised pilot. We will orient the owner and technicians, explain the calculation’s limits, and collect corrections from agreed tasks. No commercial price or paying-user claim has been established. Photos and inventory can follow validated needs. Free scrcpy mirroring can help demonstrate the installed app during class.</a:t>
            </a:r>
          </a:p>
          <a:p xmlns:a="http://schemas.openxmlformats.org/drawingml/2006/main">
            <a:r>
              <a:t/>
            </a:r>
          </a:p>
          <a:p xmlns:a="http://schemas.openxmlformats.org/drawingml/2006/main">
            <a:r>
              <a:t>Sources: supplied RefurbTrack concept paper, instructor pitching guide and announcements; repository implementation and recorded tests. All financial examples are fictional. Review the latest verification report before presenting deployment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Status · Team</a:t>
            </a:r>
          </a:p>
          <a:p xmlns:a="http://schemas.openxmlformats.org/drawingml/2006/main">
            <a:r>
              <a:t>Timing: 4:35–5:00</a:t>
            </a:r>
          </a:p>
          <a:p xmlns:a="http://schemas.openxmlformats.org/drawingml/2006/main">
            <a:r>
              <a:t/>
            </a:r>
          </a:p>
          <a:p xmlns:a="http://schemas.openxmlformats.org/drawingml/2006/main">
            <a:r>
              <a:t>Our team is Joseph Alejo, Ynoid Dan Blagantio, Ace Jerald Galvez, and Novecille Lapasaran. Together we are responsible for implementation, testing, documentation, and presentation. Individual contributions should follow our actual assignments. We will now demonstrate a fictional phone, its recorded costs and profit, then the customer repair workflow. Thank you.</a:t>
            </a:r>
          </a:p>
          <a:p xmlns:a="http://schemas.openxmlformats.org/drawingml/2006/main">
            <a:r>
              <a:t/>
            </a:r>
          </a:p>
          <a:p xmlns:a="http://schemas.openxmlformats.org/drawingml/2006/main">
            <a:r>
              <a:t>Sources: supplied RefurbTrack concept paper, instructor pitching guide and announcements; repository implementation and recorded tests. All financial examples are fictional. Review the latest verification report before presenting deployment status.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739051516ac4f1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e539c26d67fb43b9" /><Relationship Type="http://schemas.openxmlformats.org/officeDocument/2006/relationships/slideLayout" Target="/ppt/slideLayouts/slideLayout1.xml" Id="R7d9412f489c3424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9412f489c3424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50d2265eefe4320" /><Relationship Type="http://schemas.openxmlformats.org/officeDocument/2006/relationships/notesSlide" Target="/ppt/notesSlides/notesSlide1.xml" Id="R9f2df89f8ccd440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7c3a21183f6d4a4f" /><Relationship Type="http://schemas.openxmlformats.org/officeDocument/2006/relationships/notesSlide" Target="/ppt/notesSlides/notesSlide2.xml" Id="Rd694c85e845d452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b002881b3aa4e33" /><Relationship Type="http://schemas.openxmlformats.org/officeDocument/2006/relationships/image" Target="/ppt/media/image.jpeg" Id="Raf52fa5499f04466" /><Relationship Type="http://schemas.openxmlformats.org/officeDocument/2006/relationships/notesSlide" Target="/ppt/notesSlides/notesSlide3.xml" Id="R9c1b3d03c62c41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69c56f0085d4d4d" /><Relationship Type="http://schemas.openxmlformats.org/officeDocument/2006/relationships/notesSlide" Target="/ppt/notesSlides/notesSlide4.xml" Id="R5253fbe1682244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faf5a513ccf4599" /><Relationship Type="http://schemas.openxmlformats.org/officeDocument/2006/relationships/notesSlide" Target="/ppt/notesSlides/notesSlide5.xml" Id="R3872f89ebc52451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10b7ca78cce4cc4" /><Relationship Type="http://schemas.openxmlformats.org/officeDocument/2006/relationships/notesSlide" Target="/ppt/notesSlides/notesSlide6.xml" Id="R42c416dd19e14bd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faf6cd978914003" /><Relationship Type="http://schemas.openxmlformats.org/officeDocument/2006/relationships/notesSlide" Target="/ppt/notesSlides/notesSlide7.xml" Id="R8372968cf4b3476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61e3ea77017414a" /><Relationship Type="http://schemas.openxmlformats.org/officeDocument/2006/relationships/notesSlide" Target="/ppt/notesSlides/notesSlide8.xml" Id="R8ded705773984c8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7afe000fe854b7f" /><Relationship Type="http://schemas.openxmlformats.org/officeDocument/2006/relationships/notesSlide" Target="/ppt/notesSlides/notesSlide9.xml" Id="Red50c249450145b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5b466a7614174942" /><Relationship Type="http://schemas.openxmlformats.org/officeDocument/2006/relationships/notesSlide" Target="/ppt/notesSlides/notesSlide10.xml" Id="R86493eb28e834d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c3c179d650414818" /><Relationship Type="http://schemas.openxmlformats.org/officeDocument/2006/relationships/notesSlide" Target="/ppt/notesSlides/notesSlide11.xml" Id="R1668730ca0c54e4b" /></Relationships>
</file>

<file path=ppt/slides/slide1.xml><?xml version="1.0" encoding="utf-8"?>
<p:sld xmlns:p="http://schemas.openxmlformats.org/presentationml/2006/main">
  <p:cSld>
    <p:bg>
      <p:bgPr>
        <a:solidFill xmlns:a="http://schemas.openxmlformats.org/drawingml/2006/main">
          <a:srgbClr val="12334B"/>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59C84E-7E1A-434E-917F-8530D8A37D69}"/>
              </a:ext>
            </a:extLst>
          </p:cNvPr>
          <p:cNvSpPr>
            <a:spLocks xmlns:a="http://schemas.openxmlformats.org/drawingml/2006/main" noGrp="1"/>
          </p:cNvSpPr>
          <p:nvPr/>
        </p:nvSpPr>
        <p:spPr>
          <a:xfrm xmlns:a="http://schemas.openxmlformats.org/drawingml/2006/main">
            <a:off x="685800" y="1190625"/>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FFFFFF"/>
                </a:solidFill>
                <a:latin typeface="Arial"/>
                <a:ea typeface="Arial"/>
                <a:cs typeface="Arial"/>
              </a:defRPr>
            </a:pPr>
            <a:r>
              <a:rPr sz="5700" b="1">
                <a:solidFill>
                  <a:srgbClr val="FFFFFF"/>
                </a:solidFill>
                <a:latin typeface="Arial"/>
                <a:ea typeface="Arial"/>
                <a:cs typeface="Arial"/>
              </a:rPr>
              <a:t>RefurbTrack</a:t>
            </a:r>
          </a:p>
        </p:txBody>
      </p:sp>
      <p:sp>
        <p:nvSpPr>
          <p:cNvPr id="2" name="">
            <a:extLst xmlns:a="http://schemas.openxmlformats.org/drawingml/2006/main">
              <a:ext uri="{FF2B5EF4-FFF2-40B4-BE49-F238E27FC236}">
                <a16:creationId xmlns:a16="http://schemas.microsoft.com/office/drawing/2014/main" id="{9F9878D5-0F62-4BC9-B271-39CF4DF0DD5A}"/>
              </a:ext>
            </a:extLst>
          </p:cNvPr>
          <p:cNvSpPr>
            <a:spLocks xmlns:a="http://schemas.openxmlformats.org/drawingml/2006/main" noGrp="1"/>
          </p:cNvSpPr>
          <p:nvPr/>
        </p:nvSpPr>
        <p:spPr>
          <a:xfrm xmlns:a="http://schemas.openxmlformats.org/drawingml/2006/main">
            <a:off x="723900" y="23812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DDEDE8"/>
                </a:solidFill>
                <a:latin typeface="Arial"/>
                <a:ea typeface="Arial"/>
                <a:cs typeface="Arial"/>
              </a:defRPr>
            </a:pPr>
            <a:r>
              <a:rPr sz="2550" b="0">
                <a:solidFill>
                  <a:srgbClr val="DDEDE8"/>
                </a:solidFill>
                <a:latin typeface="Arial"/>
                <a:ea typeface="Arial"/>
                <a:cs typeface="Arial"/>
              </a:rPr>
              <a:t>Phone refurbishment cost and profit tracking</a:t>
            </a:r>
          </a:p>
        </p:txBody>
      </p:sp>
      <p:sp>
        <p:nvSpPr>
          <p:cNvPr id="3" name="">
            <a:extLst xmlns:a="http://schemas.openxmlformats.org/drawingml/2006/main">
              <a:ext uri="{FF2B5EF4-FFF2-40B4-BE49-F238E27FC236}">
                <a16:creationId xmlns:a16="http://schemas.microsoft.com/office/drawing/2014/main" id="{B28A7183-D36B-4E69-99E5-92366437BE9B}"/>
              </a:ext>
            </a:extLst>
          </p:cNvPr>
          <p:cNvSpPr>
            <a:spLocks xmlns:a="http://schemas.openxmlformats.org/drawingml/2006/main" noGrp="1"/>
          </p:cNvSpPr>
          <p:nvPr/>
        </p:nvSpPr>
        <p:spPr>
          <a:xfrm xmlns:a="http://schemas.openxmlformats.org/drawingml/2006/main">
            <a:off x="723900" y="3933825"/>
            <a:ext cx="104775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AJ Cellphone Repair Shop and Accessories</a:t>
            </a:r>
          </a:p>
          <a:p xmlns:a="http://schemas.openxmlformats.org/drawingml/2006/main">
            <a:pPr>
              <a:defRPr sz="2100" b="0">
                <a:solidFill>
                  <a:srgbClr val="FFFFFF"/>
                </a:solidFill>
                <a:latin typeface="Arial"/>
                <a:ea typeface="Arial"/>
                <a:cs typeface="Arial"/>
              </a:defRPr>
            </a:pPr>
            <a:r>
              <a:rPr sz="2100" b="0">
                <a:solidFill>
                  <a:srgbClr val="FFFFFF"/>
                </a:solidFill>
                <a:latin typeface="Arial"/>
                <a:ea typeface="Arial"/>
                <a:cs typeface="Arial"/>
              </a:rPr>
              <a:t>CCE 106/L • UM Tagum College</a:t>
            </a:r>
          </a:p>
        </p:txBody>
      </p:sp>
      <p:sp>
        <p:nvSpPr>
          <p:cNvPr id="4" name="">
            <a:extLst xmlns:a="http://schemas.openxmlformats.org/drawingml/2006/main">
              <a:ext uri="{FF2B5EF4-FFF2-40B4-BE49-F238E27FC236}">
                <a16:creationId xmlns:a16="http://schemas.microsoft.com/office/drawing/2014/main" id="{84E4614A-7D9A-4616-B3EA-CFA1270C6306}"/>
              </a:ext>
            </a:extLst>
          </p:cNvPr>
          <p:cNvSpPr>
            <a:spLocks xmlns:a="http://schemas.openxmlformats.org/drawingml/2006/main" noGrp="1"/>
          </p:cNvSpPr>
          <p:nvPr/>
        </p:nvSpPr>
        <p:spPr>
          <a:xfrm xmlns:a="http://schemas.openxmlformats.org/drawingml/2006/main">
            <a:off x="10668000" y="62579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DDEDE8"/>
                </a:solidFill>
                <a:latin typeface="Arial"/>
                <a:ea typeface="Arial"/>
                <a:cs typeface="Arial"/>
              </a:defRPr>
            </a:pPr>
            <a:r>
              <a:rPr sz="1200" b="0">
                <a:solidFill>
                  <a:srgbClr val="DDEDE8"/>
                </a:solidFill>
                <a:latin typeface="Arial"/>
                <a:ea typeface="Arial"/>
                <a:cs typeface="Arial"/>
              </a:rPr>
              <a:t>1 / 11</a:t>
            </a:r>
          </a:p>
        </p:txBody>
      </p:sp>
    </p:spTree>
    <p:extLst>
      <p:ext uri="{BB962C8B-B14F-4D97-AF65-F5344CB8AC3E}">
        <p14:creationId xmlns:p14="http://schemas.microsoft.com/office/powerpoint/2010/main" val="1286623578"/>
      </p:ext>
    </p:extLst>
  </p:cSld>
</p:sld>
</file>

<file path=ppt/slides/slide2.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753EBC2-94C4-4324-B7C2-FD8F0CB422B6}"/>
              </a:ext>
            </a:extLst>
          </p:cNvPr>
          <p:cNvSpPr>
            <a:spLocks xmlns:a="http://schemas.openxmlformats.org/drawingml/2006/main" noGrp="1"/>
          </p:cNvSpPr>
          <p:nvPr/>
        </p:nvSpPr>
        <p:spPr>
          <a:xfrm xmlns:a="http://schemas.openxmlformats.org/drawingml/2006/main">
            <a:off x="685800" y="5905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34B"/>
                </a:solidFill>
                <a:latin typeface="Arial"/>
                <a:ea typeface="Arial"/>
                <a:cs typeface="Arial"/>
              </a:defRPr>
            </a:pPr>
            <a:r>
              <a:rPr sz="4200" b="1">
                <a:solidFill>
                  <a:srgbClr val="12334B"/>
                </a:solidFill>
                <a:latin typeface="Arial"/>
                <a:ea typeface="Arial"/>
                <a:cs typeface="Arial"/>
              </a:rPr>
              <a:t>The problem</a:t>
            </a:r>
          </a:p>
        </p:txBody>
      </p:sp>
      <p:sp>
        <p:nvSpPr>
          <p:cNvPr id="2" name="">
            <a:extLst xmlns:a="http://schemas.openxmlformats.org/drawingml/2006/main">
              <a:ext uri="{FF2B5EF4-FFF2-40B4-BE49-F238E27FC236}">
                <a16:creationId xmlns:a16="http://schemas.microsoft.com/office/drawing/2014/main" id="{DB11DBAB-7661-4899-8F71-1C3D95BE3FF2}"/>
              </a:ext>
            </a:extLst>
          </p:cNvPr>
          <p:cNvSpPr>
            <a:spLocks xmlns:a="http://schemas.openxmlformats.org/drawingml/2006/main" noGrp="1"/>
          </p:cNvSpPr>
          <p:nvPr/>
        </p:nvSpPr>
        <p:spPr>
          <a:xfrm xmlns:a="http://schemas.openxmlformats.org/drawingml/2006/main">
            <a:off x="723900" y="17526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096B60"/>
                </a:solidFill>
                <a:latin typeface="Arial"/>
                <a:ea typeface="Arial"/>
                <a:cs typeface="Arial"/>
              </a:defRPr>
            </a:pPr>
            <a:r>
              <a:rPr sz="2550" b="0">
                <a:solidFill>
                  <a:srgbClr val="096B60"/>
                </a:solidFill>
                <a:latin typeface="Arial"/>
                <a:ea typeface="Arial"/>
                <a:cs typeface="Arial"/>
              </a:rPr>
              <a:t>A sale price does not reveal the profit</a:t>
            </a:r>
          </a:p>
        </p:txBody>
      </p:sp>
      <p:sp>
        <p:nvSpPr>
          <p:cNvPr id="3" name="">
            <a:extLst xmlns:a="http://schemas.openxmlformats.org/drawingml/2006/main">
              <a:ext uri="{FF2B5EF4-FFF2-40B4-BE49-F238E27FC236}">
                <a16:creationId xmlns:a16="http://schemas.microsoft.com/office/drawing/2014/main" id="{4F8B719C-0D11-4067-8D9A-B937AA1EFDBD}"/>
              </a:ext>
            </a:extLst>
          </p:cNvPr>
          <p:cNvSpPr>
            <a:spLocks xmlns:a="http://schemas.openxmlformats.org/drawingml/2006/main" noGrp="1"/>
          </p:cNvSpPr>
          <p:nvPr/>
        </p:nvSpPr>
        <p:spPr>
          <a:xfrm xmlns:a="http://schemas.openxmlformats.org/drawingml/2006/main">
            <a:off x="723900" y="2952750"/>
            <a:ext cx="104775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Purchase, parts, and labor are recorded separately.</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Unexpected defects add costs.</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Unsold phones keep capital tied up.</a:t>
            </a:r>
          </a:p>
        </p:txBody>
      </p:sp>
      <p:sp>
        <p:nvSpPr>
          <p:cNvPr id="4" name="">
            <a:extLst xmlns:a="http://schemas.openxmlformats.org/drawingml/2006/main">
              <a:ext uri="{FF2B5EF4-FFF2-40B4-BE49-F238E27FC236}">
                <a16:creationId xmlns:a16="http://schemas.microsoft.com/office/drawing/2014/main" id="{1DF20077-C3F6-492F-866C-86B732FBB9E2}"/>
              </a:ext>
            </a:extLst>
          </p:cNvPr>
          <p:cNvSpPr>
            <a:spLocks xmlns:a="http://schemas.openxmlformats.org/drawingml/2006/main" noGrp="1"/>
          </p:cNvSpPr>
          <p:nvPr/>
        </p:nvSpPr>
        <p:spPr>
          <a:xfrm xmlns:a="http://schemas.openxmlformats.org/drawingml/2006/main">
            <a:off x="10668000" y="62579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6270"/>
                </a:solidFill>
                <a:latin typeface="Arial"/>
                <a:ea typeface="Arial"/>
                <a:cs typeface="Arial"/>
              </a:defRPr>
            </a:pPr>
            <a:r>
              <a:rPr sz="1200" b="0">
                <a:solidFill>
                  <a:srgbClr val="4E6270"/>
                </a:solidFill>
                <a:latin typeface="Arial"/>
                <a:ea typeface="Arial"/>
                <a:cs typeface="Arial"/>
              </a:rPr>
              <a:t>2 / 11</a:t>
            </a:r>
          </a:p>
        </p:txBody>
      </p:sp>
    </p:spTree>
    <p:extLst>
      <p:ext uri="{BB962C8B-B14F-4D97-AF65-F5344CB8AC3E}">
        <p14:creationId xmlns:p14="http://schemas.microsoft.com/office/powerpoint/2010/main" val="1330026545"/>
      </p:ext>
    </p:extLst>
  </p:cSld>
</p:sld>
</file>

<file path=ppt/slides/slide3.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2BFF388-5A17-436F-B06F-27011DF83E3C}"/>
              </a:ext>
            </a:extLst>
          </p:cNvPr>
          <p:cNvSpPr>
            <a:spLocks xmlns:a="http://schemas.openxmlformats.org/drawingml/2006/main" noGrp="1"/>
          </p:cNvSpPr>
          <p:nvPr/>
        </p:nvSpPr>
        <p:spPr>
          <a:xfrm xmlns:a="http://schemas.openxmlformats.org/drawingml/2006/main">
            <a:off x="685800" y="5905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34B"/>
                </a:solidFill>
                <a:latin typeface="Arial"/>
                <a:ea typeface="Arial"/>
                <a:cs typeface="Arial"/>
              </a:defRPr>
            </a:pPr>
            <a:r>
              <a:rPr sz="4200" b="1">
                <a:solidFill>
                  <a:srgbClr val="12334B"/>
                </a:solidFill>
                <a:latin typeface="Arial"/>
                <a:ea typeface="Arial"/>
                <a:cs typeface="Arial"/>
              </a:rPr>
              <a:t>The solution</a:t>
            </a:r>
          </a:p>
        </p:txBody>
      </p:sp>
      <p:sp>
        <p:nvSpPr>
          <p:cNvPr id="2" name="">
            <a:extLst xmlns:a="http://schemas.openxmlformats.org/drawingml/2006/main">
              <a:ext uri="{FF2B5EF4-FFF2-40B4-BE49-F238E27FC236}">
                <a16:creationId xmlns:a16="http://schemas.microsoft.com/office/drawing/2014/main" id="{E75F6539-A0A6-4FC5-A1D1-463C56A816C2}"/>
              </a:ext>
            </a:extLst>
          </p:cNvPr>
          <p:cNvSpPr>
            <a:spLocks xmlns:a="http://schemas.openxmlformats.org/drawingml/2006/main" noGrp="1"/>
          </p:cNvSpPr>
          <p:nvPr/>
        </p:nvSpPr>
        <p:spPr>
          <a:xfrm xmlns:a="http://schemas.openxmlformats.org/drawingml/2006/main">
            <a:off x="723900" y="1752600"/>
            <a:ext cx="714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096B60"/>
                </a:solidFill>
                <a:latin typeface="Arial"/>
                <a:ea typeface="Arial"/>
                <a:cs typeface="Arial"/>
              </a:defRPr>
            </a:pPr>
            <a:r>
              <a:rPr sz="2550" b="0">
                <a:solidFill>
                  <a:srgbClr val="096B60"/>
                </a:solidFill>
                <a:latin typeface="Arial"/>
                <a:ea typeface="Arial"/>
                <a:cs typeface="Arial"/>
              </a:rPr>
              <a:t>One phone record through its whole job</a:t>
            </a:r>
          </a:p>
        </p:txBody>
      </p:sp>
      <p:sp>
        <p:nvSpPr>
          <p:cNvPr id="3" name="">
            <a:extLst xmlns:a="http://schemas.openxmlformats.org/drawingml/2006/main">
              <a:ext uri="{FF2B5EF4-FFF2-40B4-BE49-F238E27FC236}">
                <a16:creationId xmlns:a16="http://schemas.microsoft.com/office/drawing/2014/main" id="{041F3140-90F0-4C1F-B14C-C0205C959562}"/>
              </a:ext>
            </a:extLst>
          </p:cNvPr>
          <p:cNvSpPr>
            <a:spLocks xmlns:a="http://schemas.openxmlformats.org/drawingml/2006/main" noGrp="1"/>
          </p:cNvSpPr>
          <p:nvPr/>
        </p:nvSpPr>
        <p:spPr>
          <a:xfrm xmlns:a="http://schemas.openxmlformats.org/drawingml/2006/main">
            <a:off x="723900" y="2952750"/>
            <a:ext cx="75247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Intake and diagnosis</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Parts and paid labor</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Final payment and history</a:t>
            </a:r>
          </a:p>
          <a:p xmlns:a="http://schemas.openxmlformats.org/drawingml/2006/main">
            <a:r>
              <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Fictional example</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PHP 4,500 revenue − PHP 3,000 costs</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 PHP 1,500 profit</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af52fa5499f04466"/>
          <a:stretch xmlns:a="http://schemas.openxmlformats.org/drawingml/2006/main"/>
        </p:blipFill>
        <p:spPr>
          <a:xfrm xmlns:a="http://schemas.openxmlformats.org/drawingml/2006/main">
            <a:off x="8810625" y="858838"/>
            <a:ext cx="2476500" cy="53594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B67062D9-DA7B-436E-944A-6B5A2CB7CAE2}"/>
              </a:ext>
            </a:extLst>
          </p:cNvPr>
          <p:cNvSpPr>
            <a:spLocks xmlns:a="http://schemas.openxmlformats.org/drawingml/2006/main" noGrp="1"/>
          </p:cNvSpPr>
          <p:nvPr/>
        </p:nvSpPr>
        <p:spPr>
          <a:xfrm xmlns:a="http://schemas.openxmlformats.org/drawingml/2006/main">
            <a:off x="10668000" y="62579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6270"/>
                </a:solidFill>
                <a:latin typeface="Arial"/>
                <a:ea typeface="Arial"/>
                <a:cs typeface="Arial"/>
              </a:defRPr>
            </a:pPr>
            <a:r>
              <a:rPr sz="1200" b="0">
                <a:solidFill>
                  <a:srgbClr val="4E6270"/>
                </a:solidFill>
                <a:latin typeface="Arial"/>
                <a:ea typeface="Arial"/>
                <a:cs typeface="Arial"/>
              </a:rPr>
              <a:t>3 / 11</a:t>
            </a:r>
          </a:p>
        </p:txBody>
      </p:sp>
    </p:spTree>
    <p:extLst>
      <p:ext uri="{BB962C8B-B14F-4D97-AF65-F5344CB8AC3E}">
        <p14:creationId xmlns:p14="http://schemas.microsoft.com/office/powerpoint/2010/main" val="1026960253"/>
      </p:ext>
    </p:extLst>
  </p:cSld>
</p:sld>
</file>

<file path=ppt/slides/slide4.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FA4CEA-F4A2-4C79-A160-4B8B63F1E7A2}"/>
              </a:ext>
            </a:extLst>
          </p:cNvPr>
          <p:cNvSpPr>
            <a:spLocks xmlns:a="http://schemas.openxmlformats.org/drawingml/2006/main" noGrp="1"/>
          </p:cNvSpPr>
          <p:nvPr/>
        </p:nvSpPr>
        <p:spPr>
          <a:xfrm xmlns:a="http://schemas.openxmlformats.org/drawingml/2006/main">
            <a:off x="685800" y="5905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34B"/>
                </a:solidFill>
                <a:latin typeface="Arial"/>
                <a:ea typeface="Arial"/>
                <a:cs typeface="Arial"/>
              </a:defRPr>
            </a:pPr>
            <a:r>
              <a:rPr sz="4200" b="1">
                <a:solidFill>
                  <a:srgbClr val="12334B"/>
                </a:solidFill>
                <a:latin typeface="Arial"/>
                <a:ea typeface="Arial"/>
                <a:cs typeface="Arial"/>
              </a:rPr>
              <a:t>Project objectives</a:t>
            </a:r>
          </a:p>
        </p:txBody>
      </p:sp>
      <p:sp>
        <p:nvSpPr>
          <p:cNvPr id="2" name="">
            <a:extLst xmlns:a="http://schemas.openxmlformats.org/drawingml/2006/main">
              <a:ext uri="{FF2B5EF4-FFF2-40B4-BE49-F238E27FC236}">
                <a16:creationId xmlns:a16="http://schemas.microsoft.com/office/drawing/2014/main" id="{A3CE0F81-BF6A-4EE2-BC92-730FDE9170B1}"/>
              </a:ext>
            </a:extLst>
          </p:cNvPr>
          <p:cNvSpPr>
            <a:spLocks xmlns:a="http://schemas.openxmlformats.org/drawingml/2006/main" noGrp="1"/>
          </p:cNvSpPr>
          <p:nvPr/>
        </p:nvSpPr>
        <p:spPr>
          <a:xfrm xmlns:a="http://schemas.openxmlformats.org/drawingml/2006/main">
            <a:off x="723900" y="17526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096B60"/>
                </a:solidFill>
                <a:latin typeface="Arial"/>
                <a:ea typeface="Arial"/>
                <a:cs typeface="Arial"/>
              </a:defRPr>
            </a:pPr>
            <a:r>
              <a:rPr sz="2550" b="0">
                <a:solidFill>
                  <a:srgbClr val="096B60"/>
                </a:solidFill>
                <a:latin typeface="Arial"/>
                <a:ea typeface="Arial"/>
                <a:cs typeface="Arial"/>
              </a:rPr>
              <a:t>Make the recorded costs usable at the counter</a:t>
            </a:r>
          </a:p>
        </p:txBody>
      </p:sp>
      <p:sp>
        <p:nvSpPr>
          <p:cNvPr id="3" name="">
            <a:extLst xmlns:a="http://schemas.openxmlformats.org/drawingml/2006/main">
              <a:ext uri="{FF2B5EF4-FFF2-40B4-BE49-F238E27FC236}">
                <a16:creationId xmlns:a16="http://schemas.microsoft.com/office/drawing/2014/main" id="{EE00E863-CF90-42B5-989E-509D77E6525F}"/>
              </a:ext>
            </a:extLst>
          </p:cNvPr>
          <p:cNvSpPr>
            <a:spLocks xmlns:a="http://schemas.openxmlformats.org/drawingml/2006/main" noGrp="1"/>
          </p:cNvSpPr>
          <p:nvPr/>
        </p:nvSpPr>
        <p:spPr>
          <a:xfrm xmlns:a="http://schemas.openxmlformats.org/drawingml/2006/main">
            <a:off x="723900" y="2952750"/>
            <a:ext cx="104775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Record and update the actual direct costs</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Separate resale from customer repairs</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Retrieve a phone’s status and financial history</a:t>
            </a:r>
          </a:p>
        </p:txBody>
      </p:sp>
      <p:sp>
        <p:nvSpPr>
          <p:cNvPr id="4" name="">
            <a:extLst xmlns:a="http://schemas.openxmlformats.org/drawingml/2006/main">
              <a:ext uri="{FF2B5EF4-FFF2-40B4-BE49-F238E27FC236}">
                <a16:creationId xmlns:a16="http://schemas.microsoft.com/office/drawing/2014/main" id="{6DF0F2E4-C2CC-45D8-978F-A65AB4EF0A45}"/>
              </a:ext>
            </a:extLst>
          </p:cNvPr>
          <p:cNvSpPr>
            <a:spLocks xmlns:a="http://schemas.openxmlformats.org/drawingml/2006/main" noGrp="1"/>
          </p:cNvSpPr>
          <p:nvPr/>
        </p:nvSpPr>
        <p:spPr>
          <a:xfrm xmlns:a="http://schemas.openxmlformats.org/drawingml/2006/main">
            <a:off x="10668000" y="62579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6270"/>
                </a:solidFill>
                <a:latin typeface="Arial"/>
                <a:ea typeface="Arial"/>
                <a:cs typeface="Arial"/>
              </a:defRPr>
            </a:pPr>
            <a:r>
              <a:rPr sz="1200" b="0">
                <a:solidFill>
                  <a:srgbClr val="4E6270"/>
                </a:solidFill>
                <a:latin typeface="Arial"/>
                <a:ea typeface="Arial"/>
                <a:cs typeface="Arial"/>
              </a:rPr>
              <a:t>4 / 11</a:t>
            </a:r>
          </a:p>
        </p:txBody>
      </p:sp>
    </p:spTree>
    <p:extLst>
      <p:ext uri="{BB962C8B-B14F-4D97-AF65-F5344CB8AC3E}">
        <p14:creationId xmlns:p14="http://schemas.microsoft.com/office/powerpoint/2010/main" val="1801961777"/>
      </p:ext>
    </p:extLst>
  </p:cSld>
</p:sld>
</file>

<file path=ppt/slides/slide5.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8444C83-20BD-4C08-9663-7DFF88868AFE}"/>
              </a:ext>
            </a:extLst>
          </p:cNvPr>
          <p:cNvSpPr>
            <a:spLocks xmlns:a="http://schemas.openxmlformats.org/drawingml/2006/main" noGrp="1"/>
          </p:cNvSpPr>
          <p:nvPr/>
        </p:nvSpPr>
        <p:spPr>
          <a:xfrm xmlns:a="http://schemas.openxmlformats.org/drawingml/2006/main">
            <a:off x="685800" y="5905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34B"/>
                </a:solidFill>
                <a:latin typeface="Arial"/>
                <a:ea typeface="Arial"/>
                <a:cs typeface="Arial"/>
              </a:defRPr>
            </a:pPr>
            <a:r>
              <a:rPr sz="4200" b="1">
                <a:solidFill>
                  <a:srgbClr val="12334B"/>
                </a:solidFill>
                <a:latin typeface="Arial"/>
                <a:ea typeface="Arial"/>
                <a:cs typeface="Arial"/>
              </a:rPr>
              <a:t>Market opportunity</a:t>
            </a:r>
          </a:p>
        </p:txBody>
      </p:sp>
      <p:sp>
        <p:nvSpPr>
          <p:cNvPr id="2" name="">
            <a:extLst xmlns:a="http://schemas.openxmlformats.org/drawingml/2006/main">
              <a:ext uri="{FF2B5EF4-FFF2-40B4-BE49-F238E27FC236}">
                <a16:creationId xmlns:a16="http://schemas.microsoft.com/office/drawing/2014/main" id="{B62980B4-C49D-4B01-89FF-C48FC4B9A019}"/>
              </a:ext>
            </a:extLst>
          </p:cNvPr>
          <p:cNvSpPr>
            <a:spLocks xmlns:a="http://schemas.openxmlformats.org/drawingml/2006/main" noGrp="1"/>
          </p:cNvSpPr>
          <p:nvPr/>
        </p:nvSpPr>
        <p:spPr>
          <a:xfrm xmlns:a="http://schemas.openxmlformats.org/drawingml/2006/main">
            <a:off x="723900" y="17526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096B60"/>
                </a:solidFill>
                <a:latin typeface="Arial"/>
                <a:ea typeface="Arial"/>
                <a:cs typeface="Arial"/>
              </a:defRPr>
            </a:pPr>
            <a:r>
              <a:rPr sz="2550" b="0">
                <a:solidFill>
                  <a:srgbClr val="096B60"/>
                </a:solidFill>
                <a:latin typeface="Arial"/>
                <a:ea typeface="Arial"/>
                <a:cs typeface="Arial"/>
              </a:rPr>
              <a:t>Begin with the shop that identified the need</a:t>
            </a:r>
          </a:p>
        </p:txBody>
      </p:sp>
      <p:sp>
        <p:nvSpPr>
          <p:cNvPr id="3" name="">
            <a:extLst xmlns:a="http://schemas.openxmlformats.org/drawingml/2006/main">
              <a:ext uri="{FF2B5EF4-FFF2-40B4-BE49-F238E27FC236}">
                <a16:creationId xmlns:a16="http://schemas.microsoft.com/office/drawing/2014/main" id="{FADB1F42-EA6A-4913-A3BA-741B3593B047}"/>
              </a:ext>
            </a:extLst>
          </p:cNvPr>
          <p:cNvSpPr>
            <a:spLocks xmlns:a="http://schemas.openxmlformats.org/drawingml/2006/main" noGrp="1"/>
          </p:cNvSpPr>
          <p:nvPr/>
        </p:nvSpPr>
        <p:spPr>
          <a:xfrm xmlns:a="http://schemas.openxmlformats.org/drawingml/2006/main">
            <a:off x="723900" y="2952750"/>
            <a:ext cx="104775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Primary users: the owner and technicians</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Initial setting: one repair shop in Tagum City</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Wider demand has not yet been measured</a:t>
            </a:r>
          </a:p>
        </p:txBody>
      </p:sp>
      <p:sp>
        <p:nvSpPr>
          <p:cNvPr id="4" name="">
            <a:extLst xmlns:a="http://schemas.openxmlformats.org/drawingml/2006/main">
              <a:ext uri="{FF2B5EF4-FFF2-40B4-BE49-F238E27FC236}">
                <a16:creationId xmlns:a16="http://schemas.microsoft.com/office/drawing/2014/main" id="{45020B52-E508-42B6-923E-BE927D413E12}"/>
              </a:ext>
            </a:extLst>
          </p:cNvPr>
          <p:cNvSpPr>
            <a:spLocks xmlns:a="http://schemas.openxmlformats.org/drawingml/2006/main" noGrp="1"/>
          </p:cNvSpPr>
          <p:nvPr/>
        </p:nvSpPr>
        <p:spPr>
          <a:xfrm xmlns:a="http://schemas.openxmlformats.org/drawingml/2006/main">
            <a:off x="10668000" y="62579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6270"/>
                </a:solidFill>
                <a:latin typeface="Arial"/>
                <a:ea typeface="Arial"/>
                <a:cs typeface="Arial"/>
              </a:defRPr>
            </a:pPr>
            <a:r>
              <a:rPr sz="1200" b="0">
                <a:solidFill>
                  <a:srgbClr val="4E6270"/>
                </a:solidFill>
                <a:latin typeface="Arial"/>
                <a:ea typeface="Arial"/>
                <a:cs typeface="Arial"/>
              </a:rPr>
              <a:t>5 / 11</a:t>
            </a:r>
          </a:p>
        </p:txBody>
      </p:sp>
    </p:spTree>
    <p:extLst>
      <p:ext uri="{BB962C8B-B14F-4D97-AF65-F5344CB8AC3E}">
        <p14:creationId xmlns:p14="http://schemas.microsoft.com/office/powerpoint/2010/main" val="309374600"/>
      </p:ext>
    </p:extLst>
  </p:cSld>
</p:sld>
</file>

<file path=ppt/slides/slide6.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79DF2E5-EFB9-482B-A5DB-BA6B67105C2E}"/>
              </a:ext>
            </a:extLst>
          </p:cNvPr>
          <p:cNvSpPr>
            <a:spLocks xmlns:a="http://schemas.openxmlformats.org/drawingml/2006/main" noGrp="1"/>
          </p:cNvSpPr>
          <p:nvPr/>
        </p:nvSpPr>
        <p:spPr>
          <a:xfrm xmlns:a="http://schemas.openxmlformats.org/drawingml/2006/main">
            <a:off x="685800" y="5905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34B"/>
                </a:solidFill>
                <a:latin typeface="Arial"/>
                <a:ea typeface="Arial"/>
                <a:cs typeface="Arial"/>
              </a:defRPr>
            </a:pPr>
            <a:r>
              <a:rPr sz="4200" b="1">
                <a:solidFill>
                  <a:srgbClr val="12334B"/>
                </a:solidFill>
                <a:latin typeface="Arial"/>
                <a:ea typeface="Arial"/>
                <a:cs typeface="Arial"/>
              </a:rPr>
              <a:t>Existing alternatives</a:t>
            </a:r>
          </a:p>
        </p:txBody>
      </p:sp>
      <p:sp>
        <p:nvSpPr>
          <p:cNvPr id="2" name="">
            <a:extLst xmlns:a="http://schemas.openxmlformats.org/drawingml/2006/main">
              <a:ext uri="{FF2B5EF4-FFF2-40B4-BE49-F238E27FC236}">
                <a16:creationId xmlns:a16="http://schemas.microsoft.com/office/drawing/2014/main" id="{765853A6-3231-4573-A512-ED707646BE85}"/>
              </a:ext>
            </a:extLst>
          </p:cNvPr>
          <p:cNvSpPr>
            <a:spLocks xmlns:a="http://schemas.openxmlformats.org/drawingml/2006/main" noGrp="1"/>
          </p:cNvSpPr>
          <p:nvPr/>
        </p:nvSpPr>
        <p:spPr>
          <a:xfrm xmlns:a="http://schemas.openxmlformats.org/drawingml/2006/main">
            <a:off x="723900" y="17526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096B60"/>
                </a:solidFill>
                <a:latin typeface="Arial"/>
                <a:ea typeface="Arial"/>
                <a:cs typeface="Arial"/>
              </a:defRPr>
            </a:pPr>
            <a:r>
              <a:rPr sz="2550" b="0">
                <a:solidFill>
                  <a:srgbClr val="096B60"/>
                </a:solidFill>
                <a:latin typeface="Arial"/>
                <a:ea typeface="Arial"/>
                <a:cs typeface="Arial"/>
              </a:rPr>
              <a:t>The distinction is the per-phone workflow</a:t>
            </a:r>
          </a:p>
        </p:txBody>
      </p:sp>
      <p:sp>
        <p:nvSpPr>
          <p:cNvPr id="3" name="">
            <a:extLst xmlns:a="http://schemas.openxmlformats.org/drawingml/2006/main">
              <a:ext uri="{FF2B5EF4-FFF2-40B4-BE49-F238E27FC236}">
                <a16:creationId xmlns:a16="http://schemas.microsoft.com/office/drawing/2014/main" id="{3A143859-AE97-46A9-AB8C-6E218C33A978}"/>
              </a:ext>
            </a:extLst>
          </p:cNvPr>
          <p:cNvSpPr>
            <a:spLocks xmlns:a="http://schemas.openxmlformats.org/drawingml/2006/main" noGrp="1"/>
          </p:cNvSpPr>
          <p:nvPr/>
        </p:nvSpPr>
        <p:spPr>
          <a:xfrm xmlns:a="http://schemas.openxmlformats.org/drawingml/2006/main">
            <a:off x="723900" y="2952750"/>
            <a:ext cx="104775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Paper or memory: flexible, but costs can be scattered</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Spreadsheet: flexible, but the workflow needs setup</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RefurbTrack: intake, direct costs, status, and outcome together</a:t>
            </a:r>
          </a:p>
        </p:txBody>
      </p:sp>
      <p:sp>
        <p:nvSpPr>
          <p:cNvPr id="4" name="">
            <a:extLst xmlns:a="http://schemas.openxmlformats.org/drawingml/2006/main">
              <a:ext uri="{FF2B5EF4-FFF2-40B4-BE49-F238E27FC236}">
                <a16:creationId xmlns:a16="http://schemas.microsoft.com/office/drawing/2014/main" id="{3D1D59C8-52DA-40F7-AB07-312133370A66}"/>
              </a:ext>
            </a:extLst>
          </p:cNvPr>
          <p:cNvSpPr>
            <a:spLocks xmlns:a="http://schemas.openxmlformats.org/drawingml/2006/main" noGrp="1"/>
          </p:cNvSpPr>
          <p:nvPr/>
        </p:nvSpPr>
        <p:spPr>
          <a:xfrm xmlns:a="http://schemas.openxmlformats.org/drawingml/2006/main">
            <a:off x="10668000" y="62579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6270"/>
                </a:solidFill>
                <a:latin typeface="Arial"/>
                <a:ea typeface="Arial"/>
                <a:cs typeface="Arial"/>
              </a:defRPr>
            </a:pPr>
            <a:r>
              <a:rPr sz="1200" b="0">
                <a:solidFill>
                  <a:srgbClr val="4E6270"/>
                </a:solidFill>
                <a:latin typeface="Arial"/>
                <a:ea typeface="Arial"/>
                <a:cs typeface="Arial"/>
              </a:rPr>
              <a:t>6 / 11</a:t>
            </a:r>
          </a:p>
        </p:txBody>
      </p:sp>
    </p:spTree>
    <p:extLst>
      <p:ext uri="{BB962C8B-B14F-4D97-AF65-F5344CB8AC3E}">
        <p14:creationId xmlns:p14="http://schemas.microsoft.com/office/powerpoint/2010/main" val="2140294924"/>
      </p:ext>
    </p:extLst>
  </p:cSld>
</p:sld>
</file>

<file path=ppt/slides/slide7.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BF903BDA-43D9-4D12-A10B-EE3FBAB77581}"/>
              </a:ext>
            </a:extLst>
          </p:cNvPr>
          <p:cNvSpPr>
            <a:spLocks xmlns:a="http://schemas.openxmlformats.org/drawingml/2006/main" noGrp="1"/>
          </p:cNvSpPr>
          <p:nvPr/>
        </p:nvSpPr>
        <p:spPr>
          <a:xfrm xmlns:a="http://schemas.openxmlformats.org/drawingml/2006/main">
            <a:off x="685800" y="5905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34B"/>
                </a:solidFill>
                <a:latin typeface="Arial"/>
                <a:ea typeface="Arial"/>
                <a:cs typeface="Arial"/>
              </a:defRPr>
            </a:pPr>
            <a:r>
              <a:rPr sz="4200" b="1">
                <a:solidFill>
                  <a:srgbClr val="12334B"/>
                </a:solidFill>
                <a:latin typeface="Arial"/>
                <a:ea typeface="Arial"/>
                <a:cs typeface="Arial"/>
              </a:rPr>
              <a:t>System architecture</a:t>
            </a:r>
          </a:p>
        </p:txBody>
      </p:sp>
      <p:sp>
        <p:nvSpPr>
          <p:cNvPr id="2" name="">
            <a:extLst xmlns:a="http://schemas.openxmlformats.org/drawingml/2006/main">
              <a:ext uri="{FF2B5EF4-FFF2-40B4-BE49-F238E27FC236}">
                <a16:creationId xmlns:a16="http://schemas.microsoft.com/office/drawing/2014/main" id="{10B8B12D-B31B-4496-BDC0-BEE278CCDF88}"/>
              </a:ext>
            </a:extLst>
          </p:cNvPr>
          <p:cNvSpPr>
            <a:spLocks xmlns:a="http://schemas.openxmlformats.org/drawingml/2006/main" noGrp="1"/>
          </p:cNvSpPr>
          <p:nvPr/>
        </p:nvSpPr>
        <p:spPr>
          <a:xfrm xmlns:a="http://schemas.openxmlformats.org/drawingml/2006/main">
            <a:off x="723900" y="17526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096B60"/>
                </a:solidFill>
                <a:latin typeface="Arial"/>
                <a:ea typeface="Arial"/>
                <a:cs typeface="Arial"/>
              </a:defRPr>
            </a:pPr>
            <a:r>
              <a:rPr sz="2550" b="0">
                <a:solidFill>
                  <a:srgbClr val="096B60"/>
                </a:solidFill>
                <a:latin typeface="Arial"/>
                <a:ea typeface="Arial"/>
                <a:cs typeface="Arial"/>
              </a:rPr>
              <a:t>Android client with Firebase services</a:t>
            </a:r>
          </a:p>
        </p:txBody>
      </p:sp>
      <p:sp>
        <p:nvSpPr>
          <p:cNvPr id="3" name="">
            <a:extLst xmlns:a="http://schemas.openxmlformats.org/drawingml/2006/main">
              <a:ext uri="{FF2B5EF4-FFF2-40B4-BE49-F238E27FC236}">
                <a16:creationId xmlns:a16="http://schemas.microsoft.com/office/drawing/2014/main" id="{E465D73B-7977-417E-8D8A-BD07887F064E}"/>
              </a:ext>
            </a:extLst>
          </p:cNvPr>
          <p:cNvSpPr>
            <a:spLocks xmlns:a="http://schemas.openxmlformats.org/drawingml/2006/main" noGrp="1"/>
          </p:cNvSpPr>
          <p:nvPr/>
        </p:nvSpPr>
        <p:spPr>
          <a:xfrm xmlns:a="http://schemas.openxmlformats.org/drawingml/2006/main">
            <a:off x="723900" y="2952750"/>
            <a:ext cx="104775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React Native + Expo: interface and calculations</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Firebase Authentication: staff identity</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Cloud Firestore: workspace records and access rules</a:t>
            </a:r>
          </a:p>
        </p:txBody>
      </p:sp>
      <p:sp>
        <p:nvSpPr>
          <p:cNvPr id="4" name="">
            <a:extLst xmlns:a="http://schemas.openxmlformats.org/drawingml/2006/main">
              <a:ext uri="{FF2B5EF4-FFF2-40B4-BE49-F238E27FC236}">
                <a16:creationId xmlns:a16="http://schemas.microsoft.com/office/drawing/2014/main" id="{C1B8C7F4-E52E-4EDB-A962-F228E82D8310}"/>
              </a:ext>
            </a:extLst>
          </p:cNvPr>
          <p:cNvSpPr>
            <a:spLocks xmlns:a="http://schemas.openxmlformats.org/drawingml/2006/main" noGrp="1"/>
          </p:cNvSpPr>
          <p:nvPr/>
        </p:nvSpPr>
        <p:spPr>
          <a:xfrm xmlns:a="http://schemas.openxmlformats.org/drawingml/2006/main">
            <a:off x="10668000" y="62579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6270"/>
                </a:solidFill>
                <a:latin typeface="Arial"/>
                <a:ea typeface="Arial"/>
                <a:cs typeface="Arial"/>
              </a:defRPr>
            </a:pPr>
            <a:r>
              <a:rPr sz="1200" b="0">
                <a:solidFill>
                  <a:srgbClr val="4E6270"/>
                </a:solidFill>
                <a:latin typeface="Arial"/>
                <a:ea typeface="Arial"/>
                <a:cs typeface="Arial"/>
              </a:rPr>
              <a:t>7 / 11</a:t>
            </a:r>
          </a:p>
        </p:txBody>
      </p:sp>
    </p:spTree>
    <p:extLst>
      <p:ext uri="{BB962C8B-B14F-4D97-AF65-F5344CB8AC3E}">
        <p14:creationId xmlns:p14="http://schemas.microsoft.com/office/powerpoint/2010/main" val="921319349"/>
      </p:ext>
    </p:extLst>
  </p:cSld>
</p:sld>
</file>

<file path=ppt/slides/slide8.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90A125D-6E12-45D2-BA3D-D7CB07907D27}"/>
              </a:ext>
            </a:extLst>
          </p:cNvPr>
          <p:cNvSpPr>
            <a:spLocks xmlns:a="http://schemas.openxmlformats.org/drawingml/2006/main" noGrp="1"/>
          </p:cNvSpPr>
          <p:nvPr/>
        </p:nvSpPr>
        <p:spPr>
          <a:xfrm xmlns:a="http://schemas.openxmlformats.org/drawingml/2006/main">
            <a:off x="685800" y="5905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34B"/>
                </a:solidFill>
                <a:latin typeface="Arial"/>
                <a:ea typeface="Arial"/>
                <a:cs typeface="Arial"/>
              </a:defRPr>
            </a:pPr>
            <a:r>
              <a:rPr sz="4200" b="1">
                <a:solidFill>
                  <a:srgbClr val="12334B"/>
                </a:solidFill>
                <a:latin typeface="Arial"/>
                <a:ea typeface="Arial"/>
                <a:cs typeface="Arial"/>
              </a:rPr>
              <a:t>Development process</a:t>
            </a:r>
          </a:p>
        </p:txBody>
      </p:sp>
      <p:sp>
        <p:nvSpPr>
          <p:cNvPr id="2" name="">
            <a:extLst xmlns:a="http://schemas.openxmlformats.org/drawingml/2006/main">
              <a:ext uri="{FF2B5EF4-FFF2-40B4-BE49-F238E27FC236}">
                <a16:creationId xmlns:a16="http://schemas.microsoft.com/office/drawing/2014/main" id="{C1CE01B8-74AB-4F87-B9FA-5A02B0114B28}"/>
              </a:ext>
            </a:extLst>
          </p:cNvPr>
          <p:cNvSpPr>
            <a:spLocks xmlns:a="http://schemas.openxmlformats.org/drawingml/2006/main" noGrp="1"/>
          </p:cNvSpPr>
          <p:nvPr/>
        </p:nvSpPr>
        <p:spPr>
          <a:xfrm xmlns:a="http://schemas.openxmlformats.org/drawingml/2006/main">
            <a:off x="723900" y="17526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096B60"/>
                </a:solidFill>
                <a:latin typeface="Arial"/>
                <a:ea typeface="Arial"/>
                <a:cs typeface="Arial"/>
              </a:defRPr>
            </a:pPr>
            <a:r>
              <a:rPr sz="2550" b="0">
                <a:solidFill>
                  <a:srgbClr val="096B60"/>
                </a:solidFill>
                <a:latin typeface="Arial"/>
                <a:ea typeface="Arial"/>
                <a:cs typeface="Arial"/>
              </a:rPr>
              <a:t>Build and check the complete phone lifecycle</a:t>
            </a:r>
          </a:p>
        </p:txBody>
      </p:sp>
      <p:sp>
        <p:nvSpPr>
          <p:cNvPr id="3" name="">
            <a:extLst xmlns:a="http://schemas.openxmlformats.org/drawingml/2006/main">
              <a:ext uri="{FF2B5EF4-FFF2-40B4-BE49-F238E27FC236}">
                <a16:creationId xmlns:a16="http://schemas.microsoft.com/office/drawing/2014/main" id="{7F3A92F7-CF4B-4D12-A79F-00B70B6EAF16}"/>
              </a:ext>
            </a:extLst>
          </p:cNvPr>
          <p:cNvSpPr>
            <a:spLocks xmlns:a="http://schemas.openxmlformats.org/drawingml/2006/main" noGrp="1"/>
          </p:cNvSpPr>
          <p:nvPr/>
        </p:nvSpPr>
        <p:spPr>
          <a:xfrm xmlns:a="http://schemas.openxmlformats.org/drawingml/2006/main">
            <a:off x="723900" y="2952750"/>
            <a:ext cx="104775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Requirements and financial rules</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Intake, expenses, progress, and final payment</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Testing, APK packaging, and rehearsal</a:t>
            </a:r>
          </a:p>
        </p:txBody>
      </p:sp>
      <p:sp>
        <p:nvSpPr>
          <p:cNvPr id="4" name="">
            <a:extLst xmlns:a="http://schemas.openxmlformats.org/drawingml/2006/main">
              <a:ext uri="{FF2B5EF4-FFF2-40B4-BE49-F238E27FC236}">
                <a16:creationId xmlns:a16="http://schemas.microsoft.com/office/drawing/2014/main" id="{39B4F23D-E0C5-4680-9E1A-C567671C973A}"/>
              </a:ext>
            </a:extLst>
          </p:cNvPr>
          <p:cNvSpPr>
            <a:spLocks xmlns:a="http://schemas.openxmlformats.org/drawingml/2006/main" noGrp="1"/>
          </p:cNvSpPr>
          <p:nvPr/>
        </p:nvSpPr>
        <p:spPr>
          <a:xfrm xmlns:a="http://schemas.openxmlformats.org/drawingml/2006/main">
            <a:off x="10668000" y="62579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6270"/>
                </a:solidFill>
                <a:latin typeface="Arial"/>
                <a:ea typeface="Arial"/>
                <a:cs typeface="Arial"/>
              </a:defRPr>
            </a:pPr>
            <a:r>
              <a:rPr sz="1200" b="0">
                <a:solidFill>
                  <a:srgbClr val="4E6270"/>
                </a:solidFill>
                <a:latin typeface="Arial"/>
                <a:ea typeface="Arial"/>
                <a:cs typeface="Arial"/>
              </a:rPr>
              <a:t>8 / 11</a:t>
            </a:r>
          </a:p>
        </p:txBody>
      </p:sp>
    </p:spTree>
    <p:extLst>
      <p:ext uri="{BB962C8B-B14F-4D97-AF65-F5344CB8AC3E}">
        <p14:creationId xmlns:p14="http://schemas.microsoft.com/office/powerpoint/2010/main" val="343024825"/>
      </p:ext>
    </p:extLst>
  </p:cSld>
</p:sld>
</file>

<file path=ppt/slides/slide9.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ACB0D1A-ADBD-408B-9BD6-097E23D8A7FE}"/>
              </a:ext>
            </a:extLst>
          </p:cNvPr>
          <p:cNvSpPr>
            <a:spLocks xmlns:a="http://schemas.openxmlformats.org/drawingml/2006/main" noGrp="1"/>
          </p:cNvSpPr>
          <p:nvPr/>
        </p:nvSpPr>
        <p:spPr>
          <a:xfrm xmlns:a="http://schemas.openxmlformats.org/drawingml/2006/main">
            <a:off x="685800" y="5905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34B"/>
                </a:solidFill>
                <a:latin typeface="Arial"/>
                <a:ea typeface="Arial"/>
                <a:cs typeface="Arial"/>
              </a:defRPr>
            </a:pPr>
            <a:r>
              <a:rPr sz="4200" b="1">
                <a:solidFill>
                  <a:srgbClr val="12334B"/>
                </a:solidFill>
                <a:latin typeface="Arial"/>
                <a:ea typeface="Arial"/>
                <a:cs typeface="Arial"/>
              </a:rPr>
              <a:t>Traction and validation</a:t>
            </a:r>
          </a:p>
        </p:txBody>
      </p:sp>
      <p:sp>
        <p:nvSpPr>
          <p:cNvPr id="2" name="">
            <a:extLst xmlns:a="http://schemas.openxmlformats.org/drawingml/2006/main">
              <a:ext uri="{FF2B5EF4-FFF2-40B4-BE49-F238E27FC236}">
                <a16:creationId xmlns:a16="http://schemas.microsoft.com/office/drawing/2014/main" id="{0B90A94B-9BE1-4E9E-AFA9-A54FCC7D42BF}"/>
              </a:ext>
            </a:extLst>
          </p:cNvPr>
          <p:cNvSpPr>
            <a:spLocks xmlns:a="http://schemas.openxmlformats.org/drawingml/2006/main" noGrp="1"/>
          </p:cNvSpPr>
          <p:nvPr/>
        </p:nvSpPr>
        <p:spPr>
          <a:xfrm xmlns:a="http://schemas.openxmlformats.org/drawingml/2006/main">
            <a:off x="723900" y="17526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096B60"/>
                </a:solidFill>
                <a:latin typeface="Arial"/>
                <a:ea typeface="Arial"/>
                <a:cs typeface="Arial"/>
              </a:defRPr>
            </a:pPr>
            <a:r>
              <a:rPr sz="2550" b="0">
                <a:solidFill>
                  <a:srgbClr val="096B60"/>
                </a:solidFill>
                <a:latin typeface="Arial"/>
                <a:ea typeface="Arial"/>
                <a:cs typeface="Arial"/>
              </a:rPr>
              <a:t>Working software, with device and client checks next</a:t>
            </a:r>
          </a:p>
        </p:txBody>
      </p:sp>
      <p:sp>
        <p:nvSpPr>
          <p:cNvPr id="3" name="">
            <a:extLst xmlns:a="http://schemas.openxmlformats.org/drawingml/2006/main">
              <a:ext uri="{FF2B5EF4-FFF2-40B4-BE49-F238E27FC236}">
                <a16:creationId xmlns:a16="http://schemas.microsoft.com/office/drawing/2014/main" id="{19F4E509-2384-4A4F-93F0-8D262488B4FE}"/>
              </a:ext>
            </a:extLst>
          </p:cNvPr>
          <p:cNvSpPr>
            <a:spLocks xmlns:a="http://schemas.openxmlformats.org/drawingml/2006/main" noGrp="1"/>
          </p:cNvSpPr>
          <p:nvPr/>
        </p:nvSpPr>
        <p:spPr>
          <a:xfrm xmlns:a="http://schemas.openxmlformats.org/drawingml/2006/main">
            <a:off x="723900" y="2952750"/>
            <a:ext cx="104775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20 financial and workflow tests passed</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Cloud access checks passed; Android APK built</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Client acceptance and installed-device checks remain</a:t>
            </a:r>
          </a:p>
        </p:txBody>
      </p:sp>
      <p:sp>
        <p:nvSpPr>
          <p:cNvPr id="4" name="">
            <a:extLst xmlns:a="http://schemas.openxmlformats.org/drawingml/2006/main">
              <a:ext uri="{FF2B5EF4-FFF2-40B4-BE49-F238E27FC236}">
                <a16:creationId xmlns:a16="http://schemas.microsoft.com/office/drawing/2014/main" id="{CF79D049-9D00-4867-BE2E-3523F1713545}"/>
              </a:ext>
            </a:extLst>
          </p:cNvPr>
          <p:cNvSpPr>
            <a:spLocks xmlns:a="http://schemas.openxmlformats.org/drawingml/2006/main" noGrp="1"/>
          </p:cNvSpPr>
          <p:nvPr/>
        </p:nvSpPr>
        <p:spPr>
          <a:xfrm xmlns:a="http://schemas.openxmlformats.org/drawingml/2006/main">
            <a:off x="10668000" y="62579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6270"/>
                </a:solidFill>
                <a:latin typeface="Arial"/>
                <a:ea typeface="Arial"/>
                <a:cs typeface="Arial"/>
              </a:defRPr>
            </a:pPr>
            <a:r>
              <a:rPr sz="1200" b="0">
                <a:solidFill>
                  <a:srgbClr val="4E6270"/>
                </a:solidFill>
                <a:latin typeface="Arial"/>
                <a:ea typeface="Arial"/>
                <a:cs typeface="Arial"/>
              </a:rPr>
              <a:t>9 / 11</a:t>
            </a:r>
          </a:p>
        </p:txBody>
      </p:sp>
    </p:spTree>
    <p:extLst>
      <p:ext uri="{BB962C8B-B14F-4D97-AF65-F5344CB8AC3E}">
        <p14:creationId xmlns:p14="http://schemas.microsoft.com/office/powerpoint/2010/main" val="1577103352"/>
      </p:ext>
    </p:extLst>
  </p:cSld>
</p:sld>
</file>

<file path=ppt/slides/slide10.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A56C765-EDB3-4C22-B79A-3760B25E7411}"/>
              </a:ext>
            </a:extLst>
          </p:cNvPr>
          <p:cNvSpPr>
            <a:spLocks xmlns:a="http://schemas.openxmlformats.org/drawingml/2006/main" noGrp="1"/>
          </p:cNvSpPr>
          <p:nvPr/>
        </p:nvSpPr>
        <p:spPr>
          <a:xfrm xmlns:a="http://schemas.openxmlformats.org/drawingml/2006/main">
            <a:off x="685800" y="5905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34B"/>
                </a:solidFill>
                <a:latin typeface="Arial"/>
                <a:ea typeface="Arial"/>
                <a:cs typeface="Arial"/>
              </a:defRPr>
            </a:pPr>
            <a:r>
              <a:rPr sz="4200" b="1">
                <a:solidFill>
                  <a:srgbClr val="12334B"/>
                </a:solidFill>
                <a:latin typeface="Arial"/>
                <a:ea typeface="Arial"/>
                <a:cs typeface="Arial"/>
              </a:rPr>
              <a:t>Market strategy</a:t>
            </a:r>
          </a:p>
        </p:txBody>
      </p:sp>
      <p:sp>
        <p:nvSpPr>
          <p:cNvPr id="2" name="">
            <a:extLst xmlns:a="http://schemas.openxmlformats.org/drawingml/2006/main">
              <a:ext uri="{FF2B5EF4-FFF2-40B4-BE49-F238E27FC236}">
                <a16:creationId xmlns:a16="http://schemas.microsoft.com/office/drawing/2014/main" id="{B280462C-3C17-490A-82E5-602B224E411E}"/>
              </a:ext>
            </a:extLst>
          </p:cNvPr>
          <p:cNvSpPr>
            <a:spLocks xmlns:a="http://schemas.openxmlformats.org/drawingml/2006/main" noGrp="1"/>
          </p:cNvSpPr>
          <p:nvPr/>
        </p:nvSpPr>
        <p:spPr>
          <a:xfrm xmlns:a="http://schemas.openxmlformats.org/drawingml/2006/main">
            <a:off x="723900" y="17526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096B60"/>
                </a:solidFill>
                <a:latin typeface="Arial"/>
                <a:ea typeface="Arial"/>
                <a:cs typeface="Arial"/>
              </a:defRPr>
            </a:pPr>
            <a:r>
              <a:rPr sz="2550" b="0">
                <a:solidFill>
                  <a:srgbClr val="096B60"/>
                </a:solidFill>
                <a:latin typeface="Arial"/>
                <a:ea typeface="Arial"/>
                <a:cs typeface="Arial"/>
              </a:rPr>
              <a:t>A supervised pilot before wider use</a:t>
            </a:r>
          </a:p>
        </p:txBody>
      </p:sp>
      <p:sp>
        <p:nvSpPr>
          <p:cNvPr id="3" name="">
            <a:extLst xmlns:a="http://schemas.openxmlformats.org/drawingml/2006/main">
              <a:ext uri="{FF2B5EF4-FFF2-40B4-BE49-F238E27FC236}">
                <a16:creationId xmlns:a16="http://schemas.microsoft.com/office/drawing/2014/main" id="{6E7331FD-8C5B-43E5-A24B-E95F1678B0B8}"/>
              </a:ext>
            </a:extLst>
          </p:cNvPr>
          <p:cNvSpPr>
            <a:spLocks xmlns:a="http://schemas.openxmlformats.org/drawingml/2006/main" noGrp="1"/>
          </p:cNvSpPr>
          <p:nvPr/>
        </p:nvSpPr>
        <p:spPr>
          <a:xfrm xmlns:a="http://schemas.openxmlformats.org/drawingml/2006/main">
            <a:off x="723900" y="2952750"/>
            <a:ext cx="104775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Orient the owner and technicians</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Run real acceptance tasks with permission</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Use feedback to decide the next release</a:t>
            </a:r>
          </a:p>
        </p:txBody>
      </p:sp>
      <p:sp>
        <p:nvSpPr>
          <p:cNvPr id="4" name="">
            <a:extLst xmlns:a="http://schemas.openxmlformats.org/drawingml/2006/main">
              <a:ext uri="{FF2B5EF4-FFF2-40B4-BE49-F238E27FC236}">
                <a16:creationId xmlns:a16="http://schemas.microsoft.com/office/drawing/2014/main" id="{D73D9F64-03DB-4F73-9A35-4D97783F7BF3}"/>
              </a:ext>
            </a:extLst>
          </p:cNvPr>
          <p:cNvSpPr>
            <a:spLocks xmlns:a="http://schemas.openxmlformats.org/drawingml/2006/main" noGrp="1"/>
          </p:cNvSpPr>
          <p:nvPr/>
        </p:nvSpPr>
        <p:spPr>
          <a:xfrm xmlns:a="http://schemas.openxmlformats.org/drawingml/2006/main">
            <a:off x="10668000" y="62579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6270"/>
                </a:solidFill>
                <a:latin typeface="Arial"/>
                <a:ea typeface="Arial"/>
                <a:cs typeface="Arial"/>
              </a:defRPr>
            </a:pPr>
            <a:r>
              <a:rPr sz="1200" b="0">
                <a:solidFill>
                  <a:srgbClr val="4E6270"/>
                </a:solidFill>
                <a:latin typeface="Arial"/>
                <a:ea typeface="Arial"/>
                <a:cs typeface="Arial"/>
              </a:rPr>
              <a:t>10 / 11</a:t>
            </a:r>
          </a:p>
        </p:txBody>
      </p:sp>
    </p:spTree>
    <p:extLst>
      <p:ext uri="{BB962C8B-B14F-4D97-AF65-F5344CB8AC3E}">
        <p14:creationId xmlns:p14="http://schemas.microsoft.com/office/powerpoint/2010/main" val="991376866"/>
      </p:ext>
    </p:extLst>
  </p:cSld>
</p:sld>
</file>

<file path=ppt/slides/slide11.xml><?xml version="1.0" encoding="utf-8"?>
<p:sld xmlns:p="http://schemas.openxmlformats.org/presentationml/2006/main">
  <p:cSld>
    <p:bg>
      <p:bgPr>
        <a:solidFill xmlns:a="http://schemas.openxmlformats.org/drawingml/2006/main">
          <a:srgbClr val="F4F6F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854CD3C-F22C-42F0-80DD-F0F6103C62F5}"/>
              </a:ext>
            </a:extLst>
          </p:cNvPr>
          <p:cNvSpPr>
            <a:spLocks xmlns:a="http://schemas.openxmlformats.org/drawingml/2006/main" noGrp="1"/>
          </p:cNvSpPr>
          <p:nvPr/>
        </p:nvSpPr>
        <p:spPr>
          <a:xfrm xmlns:a="http://schemas.openxmlformats.org/drawingml/2006/main">
            <a:off x="685800" y="590550"/>
            <a:ext cx="10668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12334B"/>
                </a:solidFill>
                <a:latin typeface="Arial"/>
                <a:ea typeface="Arial"/>
                <a:cs typeface="Arial"/>
              </a:defRPr>
            </a:pPr>
            <a:r>
              <a:rPr sz="4200" b="1">
                <a:solidFill>
                  <a:srgbClr val="12334B"/>
                </a:solidFill>
                <a:latin typeface="Arial"/>
                <a:ea typeface="Arial"/>
                <a:cs typeface="Arial"/>
              </a:rPr>
              <a:t>The team</a:t>
            </a:r>
          </a:p>
        </p:txBody>
      </p:sp>
      <p:sp>
        <p:nvSpPr>
          <p:cNvPr id="2" name="">
            <a:extLst xmlns:a="http://schemas.openxmlformats.org/drawingml/2006/main">
              <a:ext uri="{FF2B5EF4-FFF2-40B4-BE49-F238E27FC236}">
                <a16:creationId xmlns:a16="http://schemas.microsoft.com/office/drawing/2014/main" id="{8E53AEF9-7A45-4435-9EC1-28A63936F374}"/>
              </a:ext>
            </a:extLst>
          </p:cNvPr>
          <p:cNvSpPr>
            <a:spLocks xmlns:a="http://schemas.openxmlformats.org/drawingml/2006/main" noGrp="1"/>
          </p:cNvSpPr>
          <p:nvPr/>
        </p:nvSpPr>
        <p:spPr>
          <a:xfrm xmlns:a="http://schemas.openxmlformats.org/drawingml/2006/main">
            <a:off x="723900" y="175260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0">
                <a:solidFill>
                  <a:srgbClr val="096B60"/>
                </a:solidFill>
                <a:latin typeface="Arial"/>
                <a:ea typeface="Arial"/>
                <a:cs typeface="Arial"/>
              </a:defRPr>
            </a:pPr>
            <a:r>
              <a:rPr sz="2550" b="0">
                <a:solidFill>
                  <a:srgbClr val="096B60"/>
                </a:solidFill>
                <a:latin typeface="Arial"/>
                <a:ea typeface="Arial"/>
                <a:cs typeface="Arial"/>
              </a:rPr>
              <a:t>RefurbTrack • UM Tagum College</a:t>
            </a:r>
          </a:p>
        </p:txBody>
      </p:sp>
      <p:sp>
        <p:nvSpPr>
          <p:cNvPr id="3" name="">
            <a:extLst xmlns:a="http://schemas.openxmlformats.org/drawingml/2006/main">
              <a:ext uri="{FF2B5EF4-FFF2-40B4-BE49-F238E27FC236}">
                <a16:creationId xmlns:a16="http://schemas.microsoft.com/office/drawing/2014/main" id="{E0BB882D-2E07-4044-881B-6A1E08FCCDC9}"/>
              </a:ext>
            </a:extLst>
          </p:cNvPr>
          <p:cNvSpPr>
            <a:spLocks xmlns:a="http://schemas.openxmlformats.org/drawingml/2006/main" noGrp="1"/>
          </p:cNvSpPr>
          <p:nvPr/>
        </p:nvSpPr>
        <p:spPr>
          <a:xfrm xmlns:a="http://schemas.openxmlformats.org/drawingml/2006/main">
            <a:off x="723900" y="2952750"/>
            <a:ext cx="10477500" cy="2809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Joseph D. Alejo</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Ynoid Dan M. Blagantio</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Ace Jerald C. Galvez</a:t>
            </a:r>
          </a:p>
          <a:p xmlns:a="http://schemas.openxmlformats.org/drawingml/2006/main">
            <a:pPr>
              <a:defRPr sz="2250" b="0">
                <a:solidFill>
                  <a:srgbClr val="12334B"/>
                </a:solidFill>
                <a:latin typeface="Arial"/>
                <a:ea typeface="Arial"/>
                <a:cs typeface="Arial"/>
              </a:defRPr>
            </a:pPr>
            <a:r>
              <a:rPr sz="2250" b="0">
                <a:solidFill>
                  <a:srgbClr val="12334B"/>
                </a:solidFill>
                <a:latin typeface="Arial"/>
                <a:ea typeface="Arial"/>
                <a:cs typeface="Arial"/>
              </a:rPr>
              <a:t>Novecille Lapasaran</a:t>
            </a:r>
          </a:p>
        </p:txBody>
      </p:sp>
      <p:sp>
        <p:nvSpPr>
          <p:cNvPr id="4" name="">
            <a:extLst xmlns:a="http://schemas.openxmlformats.org/drawingml/2006/main">
              <a:ext uri="{FF2B5EF4-FFF2-40B4-BE49-F238E27FC236}">
                <a16:creationId xmlns:a16="http://schemas.microsoft.com/office/drawing/2014/main" id="{FE021D21-D1E4-44CB-9281-2D29576F8FC3}"/>
              </a:ext>
            </a:extLst>
          </p:cNvPr>
          <p:cNvSpPr>
            <a:spLocks xmlns:a="http://schemas.openxmlformats.org/drawingml/2006/main" noGrp="1"/>
          </p:cNvSpPr>
          <p:nvPr/>
        </p:nvSpPr>
        <p:spPr>
          <a:xfrm xmlns:a="http://schemas.openxmlformats.org/drawingml/2006/main">
            <a:off x="10668000" y="6257925"/>
            <a:ext cx="95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4E6270"/>
                </a:solidFill>
                <a:latin typeface="Arial"/>
                <a:ea typeface="Arial"/>
                <a:cs typeface="Arial"/>
              </a:defRPr>
            </a:pPr>
            <a:r>
              <a:rPr sz="1200" b="0">
                <a:solidFill>
                  <a:srgbClr val="4E6270"/>
                </a:solidFill>
                <a:latin typeface="Arial"/>
                <a:ea typeface="Arial"/>
                <a:cs typeface="Arial"/>
              </a:rPr>
              <a:t>11 / 11</a:t>
            </a:r>
          </a:p>
        </p:txBody>
      </p:sp>
    </p:spTree>
    <p:extLst>
      <p:ext uri="{BB962C8B-B14F-4D97-AF65-F5344CB8AC3E}">
        <p14:creationId xmlns:p14="http://schemas.microsoft.com/office/powerpoint/2010/main" val="81756970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2026-09-25T16:42:40.9430000Z</dcterms:created>
  <dcterms:modified xsi:type="dcterms:W3CDTF">2026-09-25T16:42:40.9430000Z</dcterms:modified>
</coreProperties>
</file>